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io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2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810000" y="3594229"/>
            <a:ext cx="11049000" cy="1895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16268"/>
              </a:lnSpc>
              <a:spcBef>
                <a:spcPct val="0"/>
              </a:spcBef>
            </a:pPr>
            <a:r>
              <a:rPr lang="en-US" sz="11620" spc="-58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  <a:endParaRPr lang="en-US" sz="11620" spc="-581" dirty="0">
              <a:solidFill>
                <a:srgbClr val="FAFAF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4853940"/>
            <a:ext cx="1261125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2"/>
              </a:lnSpc>
            </a:pPr>
            <a:r>
              <a:rPr lang="en-US" sz="187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Understand Your</a:t>
            </a:r>
          </a:p>
          <a:p>
            <a:pPr marL="0" lvl="0" indent="0" algn="l">
              <a:lnSpc>
                <a:spcPts val="2062"/>
              </a:lnSpc>
            </a:pPr>
            <a:r>
              <a:rPr lang="en-US" sz="187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Migration Pathway</a:t>
            </a:r>
          </a:p>
          <a:p>
            <a:pPr marL="0" lvl="0" indent="0" algn="l">
              <a:lnSpc>
                <a:spcPts val="2062"/>
              </a:lnSpc>
            </a:pPr>
            <a:r>
              <a:rPr lang="en-US" sz="187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in Context.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98175" y="1047750"/>
            <a:ext cx="1261125" cy="18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71"/>
              </a:lnSpc>
            </a:pPr>
            <a:r>
              <a:rPr lang="en-US" sz="142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// 2027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47750"/>
            <a:ext cx="1542647" cy="18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71"/>
              </a:lnSpc>
            </a:pPr>
            <a:r>
              <a:rPr lang="en-US" sz="142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06886" y="8990330"/>
            <a:ext cx="803550" cy="18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71"/>
              </a:lnSpc>
            </a:pPr>
            <a:r>
              <a:rPr lang="en-US" sz="142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Platform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87251" y="8990330"/>
            <a:ext cx="803550" cy="18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71"/>
              </a:lnSpc>
            </a:pPr>
            <a:r>
              <a:rPr lang="en-US" sz="142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Category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10436" y="8923973"/>
            <a:ext cx="1714876" cy="33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7"/>
              </a:lnSpc>
              <a:spcBef>
                <a:spcPct val="0"/>
              </a:spcBef>
            </a:pPr>
            <a:r>
              <a:rPr lang="en-US" sz="2325" u="none" strike="noStrike" spc="-2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Independent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8426" y="8600123"/>
            <a:ext cx="1482815" cy="658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57"/>
              </a:lnSpc>
            </a:pPr>
            <a:r>
              <a:rPr lang="en-US" sz="2325" spc="-2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Data Intelligence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68177" y="3594229"/>
            <a:ext cx="4491123" cy="189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268"/>
              </a:lnSpc>
              <a:spcBef>
                <a:spcPct val="0"/>
              </a:spcBef>
            </a:pPr>
            <a:endParaRPr lang="en-US" sz="11620" spc="-581" dirty="0">
              <a:solidFill>
                <a:srgbClr val="FAFAFA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8771" y="1759359"/>
            <a:ext cx="8340529" cy="3791710"/>
            <a:chOff x="0" y="0"/>
            <a:chExt cx="741380" cy="337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1380" cy="337041"/>
            </a:xfrm>
            <a:custGeom>
              <a:avLst/>
              <a:gdLst/>
              <a:ahLst/>
              <a:cxnLst/>
              <a:rect l="l" t="t" r="r" b="b"/>
              <a:pathLst>
                <a:path w="741380" h="337041">
                  <a:moveTo>
                    <a:pt x="0" y="0"/>
                  </a:moveTo>
                  <a:lnTo>
                    <a:pt x="741380" y="0"/>
                  </a:lnTo>
                  <a:lnTo>
                    <a:pt x="741380" y="337041"/>
                  </a:lnTo>
                  <a:lnTo>
                    <a:pt x="0" y="337041"/>
                  </a:lnTo>
                  <a:close/>
                </a:path>
              </a:pathLst>
            </a:custGeom>
            <a:blipFill>
              <a:blip r:embed="rId2"/>
              <a:stretch>
                <a:fillRect t="-867" b="-8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038225"/>
            <a:ext cx="1542647" cy="198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8"/>
              </a:lnSpc>
            </a:pPr>
            <a:r>
              <a:rPr lang="en-US" sz="1371" spc="-1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2477968" y="1153160"/>
            <a:ext cx="12839067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918771" y="5764934"/>
            <a:ext cx="4054542" cy="3493366"/>
            <a:chOff x="0" y="0"/>
            <a:chExt cx="1067863" cy="9200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7863" cy="920063"/>
            </a:xfrm>
            <a:custGeom>
              <a:avLst/>
              <a:gdLst/>
              <a:ahLst/>
              <a:cxnLst/>
              <a:rect l="l" t="t" r="r" b="b"/>
              <a:pathLst>
                <a:path w="1067863" h="9200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04758" y="5764934"/>
            <a:ext cx="4054542" cy="3493366"/>
            <a:chOff x="0" y="0"/>
            <a:chExt cx="1067863" cy="9200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863" cy="920063"/>
            </a:xfrm>
            <a:custGeom>
              <a:avLst/>
              <a:gdLst/>
              <a:ahLst/>
              <a:cxnLst/>
              <a:rect l="l" t="t" r="r" b="b"/>
              <a:pathLst>
                <a:path w="1067863" h="9200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787934"/>
            <a:ext cx="7114867" cy="203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data exists.</a:t>
            </a:r>
          </a:p>
          <a:p>
            <a:pPr marL="0" lvl="0" indent="0" algn="l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Understanding it is the problem.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317035" y="1006475"/>
            <a:ext cx="1942265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Problem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809281"/>
            <a:ext cx="5124467" cy="57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08"/>
              </a:lnSpc>
            </a:pPr>
            <a:r>
              <a:rPr lang="en-US" sz="1371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Occupation codes, invitation rounds, state nomination quotas and visa subclasses are scattered across multiple government sources — with no single view.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6773" y="8516690"/>
            <a:ext cx="289853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Separate portals to research one occupation pathway.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82761" y="8326153"/>
            <a:ext cx="289853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Lost per skilled migrant researching their visa options.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6773" y="8048872"/>
            <a:ext cx="2898537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Fragmented sources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82761" y="7232282"/>
            <a:ext cx="2898537" cy="928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6+ hrs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6773" y="6317240"/>
            <a:ext cx="2898537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782761" y="6317240"/>
            <a:ext cx="2898537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66869" y="0"/>
            <a:ext cx="4721131" cy="10312036"/>
            <a:chOff x="0" y="0"/>
            <a:chExt cx="419656" cy="916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656" cy="916625"/>
            </a:xfrm>
            <a:custGeom>
              <a:avLst/>
              <a:gdLst/>
              <a:ahLst/>
              <a:cxnLst/>
              <a:rect l="l" t="t" r="r" b="b"/>
              <a:pathLst>
                <a:path w="419656" h="916625">
                  <a:moveTo>
                    <a:pt x="0" y="0"/>
                  </a:moveTo>
                  <a:lnTo>
                    <a:pt x="419656" y="0"/>
                  </a:lnTo>
                  <a:lnTo>
                    <a:pt x="419656" y="916625"/>
                  </a:lnTo>
                  <a:lnTo>
                    <a:pt x="0" y="916625"/>
                  </a:lnTo>
                  <a:close/>
                </a:path>
              </a:pathLst>
            </a:custGeom>
            <a:blipFill>
              <a:blip r:embed="rId2"/>
              <a:stretch>
                <a:fillRect l="-510" r="-5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3224253"/>
            <a:ext cx="9934124" cy="2700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9"/>
              </a:lnSpc>
            </a:pPr>
            <a:r>
              <a:rPr lang="en-US" sz="6399" spc="-1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One profession-centric view of Australian skilled migration data.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6967895"/>
            <a:ext cx="597573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38225"/>
            <a:ext cx="1542647" cy="219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7"/>
              </a:lnSpc>
            </a:pPr>
            <a:r>
              <a:rPr lang="en-US" sz="1506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95349"/>
            <a:ext cx="2575660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878570"/>
            <a:ext cx="2898537" cy="35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0"/>
              </a:lnSpc>
            </a:pPr>
            <a:r>
              <a:rPr lang="en-US" sz="1318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Find your occupation by name or ANZSCO code instantly.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8343" y="8878570"/>
            <a:ext cx="2898537" cy="35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0"/>
              </a:lnSpc>
            </a:pPr>
            <a:r>
              <a:rPr lang="en-US" sz="1318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Evaluate visa subclasses 189, 190 and 491 side by side.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391702"/>
            <a:ext cx="2898537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Search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98343" y="8391702"/>
            <a:ext cx="2898537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Compare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2477968" y="1153160"/>
            <a:ext cx="978855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367986" y="8878570"/>
            <a:ext cx="2898537" cy="35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0"/>
              </a:lnSpc>
            </a:pPr>
            <a:r>
              <a:rPr lang="en-US" sz="1318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Uncover historical invitation trends and state nomination patterns in full context.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7986" y="8391702"/>
            <a:ext cx="2898537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Explore &amp; Understand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8225"/>
            <a:ext cx="1542647" cy="2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>
            <a:off x="2477968" y="1153160"/>
            <a:ext cx="13124371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198556" y="4837748"/>
            <a:ext cx="1606074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787934"/>
            <a:ext cx="9633470" cy="69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How It Works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05748" y="1016000"/>
            <a:ext cx="2553552" cy="29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3"/>
              </a:lnSpc>
            </a:pPr>
            <a:r>
              <a:rPr lang="en-US" sz="2067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Platform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5385478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938640"/>
            <a:ext cx="3550028" cy="44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Enter your profession name or ANZSCO code to find your occupation.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97375"/>
            <a:ext cx="3550028" cy="46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7"/>
              </a:lnSpc>
            </a:pPr>
            <a:r>
              <a:rPr lang="en-US" sz="3197" spc="-3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Search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667892"/>
            <a:ext cx="339712" cy="33971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1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5689" y="4745579"/>
            <a:ext cx="185735" cy="18573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4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55557" y="5385478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55557" y="6938640"/>
            <a:ext cx="3550028" cy="44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Compare visa subclasses 189, 190 and 491 side by side.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55557" y="6297375"/>
            <a:ext cx="3550028" cy="46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7"/>
              </a:lnSpc>
            </a:pPr>
            <a:r>
              <a:rPr lang="en-US" sz="3197" spc="-3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Compare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255557" y="4667892"/>
            <a:ext cx="339712" cy="33971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1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2546" y="4745579"/>
            <a:ext cx="185735" cy="18573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4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482414" y="5385478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82414" y="6938640"/>
            <a:ext cx="3550028" cy="44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Review historical invitation rounds and state nomination trends.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82414" y="6297375"/>
            <a:ext cx="3550028" cy="46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7"/>
              </a:lnSpc>
            </a:pPr>
            <a:r>
              <a:rPr lang="en-US" sz="3197" spc="-3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Explore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482414" y="4667892"/>
            <a:ext cx="339712" cy="339712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1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59403" y="4745579"/>
            <a:ext cx="185735" cy="18573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4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3709272" y="5385478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09272" y="6938640"/>
            <a:ext cx="3550028" cy="44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See your profession in full migration context with evidence-based data.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09272" y="6297375"/>
            <a:ext cx="3550028" cy="46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7"/>
              </a:lnSpc>
            </a:pPr>
            <a:r>
              <a:rPr lang="en-US" sz="3197" spc="-3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Understand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709272" y="4667892"/>
            <a:ext cx="339712" cy="339712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>
                <a:alpha val="1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786260" y="4745579"/>
            <a:ext cx="185735" cy="18573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2670" tIns="2670" rIns="2670" bIns="267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5426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2477968" y="1153160"/>
            <a:ext cx="12839067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778409"/>
            <a:ext cx="7114867" cy="51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</a:pPr>
            <a:r>
              <a:rPr lang="en-US" sz="3490" spc="-6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Real User Journey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44433" y="1778409"/>
            <a:ext cx="7114867" cy="51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839"/>
              </a:lnSpc>
            </a:pPr>
            <a:r>
              <a:rPr lang="en-US" sz="3490" spc="-6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Software Engineer, ANZSCO 261313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317035" y="1006475"/>
            <a:ext cx="1942265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Page 05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3196951"/>
            <a:ext cx="5227847" cy="4655017"/>
            <a:chOff x="0" y="0"/>
            <a:chExt cx="464697" cy="4137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64697" cy="413779"/>
            </a:xfrm>
            <a:custGeom>
              <a:avLst/>
              <a:gdLst/>
              <a:ahLst/>
              <a:cxnLst/>
              <a:rect l="l" t="t" r="r" b="b"/>
              <a:pathLst>
                <a:path w="464697" h="413779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t="-326" b="-3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30077" y="3196951"/>
            <a:ext cx="5227847" cy="4655017"/>
            <a:chOff x="0" y="0"/>
            <a:chExt cx="464697" cy="4137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64697" cy="413779"/>
            </a:xfrm>
            <a:custGeom>
              <a:avLst/>
              <a:gdLst/>
              <a:ahLst/>
              <a:cxnLst/>
              <a:rect l="l" t="t" r="r" b="b"/>
              <a:pathLst>
                <a:path w="464697" h="413779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3"/>
              <a:stretch>
                <a:fillRect t="-326" b="-3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9018868"/>
            <a:ext cx="522784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Alex enters "Software Engineer" or ANZSCO 261313 and instantly sees a profession-centric migration overview.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0077" y="9018868"/>
            <a:ext cx="522784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Alex reviews Subclass 189, 190 and 491 eligibility side by side, with invited points and round history at a glance.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168705"/>
            <a:ext cx="52278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30077" y="8168705"/>
            <a:ext cx="52278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636775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Search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30077" y="8636775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Review Pathways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31453" y="3196951"/>
            <a:ext cx="5227847" cy="4655017"/>
            <a:chOff x="0" y="0"/>
            <a:chExt cx="464697" cy="4137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4697" cy="413779"/>
            </a:xfrm>
            <a:custGeom>
              <a:avLst/>
              <a:gdLst/>
              <a:ahLst/>
              <a:cxnLst/>
              <a:rect l="l" t="t" r="r" b="b"/>
              <a:pathLst>
                <a:path w="464697" h="413779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4"/>
              <a:stretch>
                <a:fillRect t="-326" b="-3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031453" y="9018868"/>
            <a:ext cx="522784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Alex compares state nomination trends and historical invitation patterns to understand the best pathway in context.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31453" y="8168705"/>
            <a:ext cx="52278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31453" y="8636775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Compare &amp; Explore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5426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2477968" y="1153160"/>
            <a:ext cx="12227779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109276" y="483774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109276" y="630967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109276" y="778160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787934"/>
            <a:ext cx="9633470" cy="69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Core Product Capabilities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05748" y="1006475"/>
            <a:ext cx="2553552" cy="2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Platform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09276" y="5339117"/>
            <a:ext cx="1449268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</a:pPr>
            <a:r>
              <a:rPr lang="en-US" sz="2100" spc="-2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0733" y="569259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Search by occupation name or ANZSCO code to instantly surface relevant visa pathways.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09276" y="3907753"/>
            <a:ext cx="4328567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</a:pPr>
            <a:r>
              <a:rPr lang="en-US" sz="1800" spc="-18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What the Platform Does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62672" y="5217753"/>
            <a:ext cx="1076642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Official-Source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3437" y="4236241"/>
            <a:ext cx="456709" cy="501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State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90231" y="7292115"/>
            <a:ext cx="1076642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Invited-Points History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85957" y="7963139"/>
            <a:ext cx="1076642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CONTEXTUAL INTELLIGENCE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0733" y="5310500"/>
            <a:ext cx="3550028" cy="2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Profession Search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09276" y="6811047"/>
            <a:ext cx="1449268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</a:pPr>
            <a:r>
              <a:rPr lang="en-US" sz="2100" spc="-2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30733" y="716452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Compare visa subclasses 189, 190 and 491 side-by-side for any given occupation.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30733" y="6782430"/>
            <a:ext cx="3550028" cy="2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Subclass Comparison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1109276" y="925353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109276" y="8282977"/>
            <a:ext cx="1449268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</a:pPr>
            <a:r>
              <a:rPr lang="en-US" sz="2100" spc="-2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30733" y="863645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Explore months of invitation round history and points-score trends over time.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30733" y="8254360"/>
            <a:ext cx="3550028" cy="229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Historical Trend Visualisation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028700" y="6229645"/>
            <a:ext cx="8867813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1028700" y="9248775"/>
            <a:ext cx="8867813" cy="0"/>
          </a:xfrm>
          <a:prstGeom prst="line">
            <a:avLst/>
          </a:prstGeom>
          <a:ln w="19050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H="1" flipV="1">
            <a:off x="1023938" y="3200990"/>
            <a:ext cx="0" cy="6057310"/>
          </a:xfrm>
          <a:prstGeom prst="line">
            <a:avLst/>
          </a:prstGeom>
          <a:ln w="19050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5840673" y="3200990"/>
            <a:ext cx="0" cy="605731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3694432" y="5159736"/>
            <a:ext cx="339712" cy="339712"/>
            <a:chOff x="0" y="0"/>
            <a:chExt cx="452949" cy="452949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52949" cy="452949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2921992" y="7234099"/>
            <a:ext cx="339712" cy="339712"/>
            <a:chOff x="0" y="0"/>
            <a:chExt cx="452949" cy="452949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52949" cy="452949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717717" y="7905123"/>
            <a:ext cx="339712" cy="339712"/>
            <a:chOff x="0" y="0"/>
            <a:chExt cx="452949" cy="452949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452949" cy="452949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922886" y="4186101"/>
            <a:ext cx="339712" cy="339712"/>
            <a:chOff x="0" y="0"/>
            <a:chExt cx="452949" cy="452949"/>
          </a:xfrm>
        </p:grpSpPr>
        <p:grpSp>
          <p:nvGrpSpPr>
            <p:cNvPr id="50" name="Group 50"/>
            <p:cNvGrpSpPr/>
            <p:nvPr/>
          </p:nvGrpSpPr>
          <p:grpSpPr>
            <a:xfrm>
              <a:off x="0" y="0"/>
              <a:ext cx="452949" cy="452949"/>
              <a:chOff x="0" y="0"/>
              <a:chExt cx="812800" cy="81280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2670" tIns="2670" rIns="2670" bIns="267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2670" tIns="2670" rIns="2670" bIns="2670" rtlCol="0" anchor="ctr"/>
              <a:lstStyle/>
              <a:p>
                <a:pPr marL="0" lvl="0" indent="0" algn="ctr">
                  <a:lnSpc>
                    <a:spcPts val="17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5426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2477968" y="1153160"/>
            <a:ext cx="12839067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109276" y="483774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1109276" y="630967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109276" y="778160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109276" y="1787934"/>
            <a:ext cx="4639949" cy="2505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4"/>
              </a:lnSpc>
            </a:pPr>
            <a:r>
              <a:rPr lang="en-US" sz="4495" spc="-8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Clarity over complexity. Context over confusion.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17035" y="1006475"/>
            <a:ext cx="1942265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Why It Matters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1759359"/>
            <a:ext cx="8698245" cy="7494178"/>
            <a:chOff x="0" y="0"/>
            <a:chExt cx="773177" cy="6661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73177" cy="666149"/>
            </a:xfrm>
            <a:custGeom>
              <a:avLst/>
              <a:gdLst/>
              <a:ahLst/>
              <a:cxnLst/>
              <a:rect l="l" t="t" r="r" b="b"/>
              <a:pathLst>
                <a:path w="773177" h="666149">
                  <a:moveTo>
                    <a:pt x="0" y="0"/>
                  </a:moveTo>
                  <a:lnTo>
                    <a:pt x="773177" y="0"/>
                  </a:lnTo>
                  <a:lnTo>
                    <a:pt x="773177" y="666149"/>
                  </a:lnTo>
                  <a:lnTo>
                    <a:pt x="0" y="666149"/>
                  </a:lnTo>
                  <a:close/>
                </a:path>
              </a:pathLst>
            </a:custGeom>
            <a:blipFill>
              <a:blip r:embed="rId2"/>
              <a:stretch>
                <a:fillRect t="-416" b="-41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109276" y="5348642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0733" y="569259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One view consolidates occupation codes, invitation rounds, state nomination and subclass data.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0733" y="5310500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Reduce fragmentation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09276" y="6820572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30733" y="716452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Public data made accessible — structured, searchable and presented in plain context.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0733" y="6782430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Easier to interpret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1109276" y="9253538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109276" y="8292502"/>
            <a:ext cx="1449268" cy="40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30733" y="8636453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Descriptive, not predictive. Grounded in official sources to support informed research.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30733" y="8254360"/>
            <a:ext cx="3550028" cy="302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Evidence-based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1542647" cy="16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1"/>
              </a:lnSpc>
            </a:pPr>
            <a:r>
              <a:rPr lang="en-US" sz="1255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2477968" y="1153160"/>
            <a:ext cx="4700756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6753543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8225473"/>
            <a:ext cx="6150024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595625" y="1028700"/>
            <a:ext cx="8663675" cy="8229600"/>
            <a:chOff x="0" y="0"/>
            <a:chExt cx="2281791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1791" cy="2167467"/>
            </a:xfrm>
            <a:custGeom>
              <a:avLst/>
              <a:gdLst/>
              <a:ahLst/>
              <a:cxnLst/>
              <a:rect l="l" t="t" r="r" b="b"/>
              <a:pathLst>
                <a:path w="2281791" h="2167467">
                  <a:moveTo>
                    <a:pt x="0" y="0"/>
                  </a:moveTo>
                  <a:lnTo>
                    <a:pt x="2281791" y="0"/>
                  </a:lnTo>
                  <a:lnTo>
                    <a:pt x="228179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2281791" cy="215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243240" y="2226925"/>
            <a:ext cx="7368446" cy="136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Real data. Real coverage. Built on official sources.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43240" y="1646670"/>
            <a:ext cx="2474236" cy="240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2"/>
              </a:lnSpc>
            </a:pPr>
            <a:r>
              <a:rPr lang="en-US" sz="1647" spc="-16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Platform Scale &amp; Proof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9456" y="7264437"/>
            <a:ext cx="1449268" cy="52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57"/>
              </a:lnSpc>
            </a:pPr>
            <a:r>
              <a:rPr lang="en-US" sz="3597" spc="-3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36+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226295"/>
            <a:ext cx="1775014" cy="46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2"/>
              </a:lnSpc>
            </a:pPr>
            <a:r>
              <a:rPr lang="en-US" sz="1647" spc="-16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Months of invitation</a:t>
            </a:r>
          </a:p>
          <a:p>
            <a:pPr marL="0" lvl="0" indent="0" algn="l">
              <a:lnSpc>
                <a:spcPts val="1812"/>
              </a:lnSpc>
            </a:pPr>
            <a:r>
              <a:rPr lang="en-US" sz="1647" spc="-16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round history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29456" y="8736367"/>
            <a:ext cx="1449268" cy="52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57"/>
              </a:lnSpc>
            </a:pPr>
            <a:r>
              <a:rPr lang="en-US" sz="3597" spc="-3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300+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698225"/>
            <a:ext cx="3550028" cy="46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2"/>
              </a:lnSpc>
            </a:pPr>
            <a:r>
              <a:rPr lang="en-US" sz="1647" spc="-16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Professions with observed invitation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870686"/>
            <a:ext cx="6150024" cy="172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90"/>
              </a:lnSpc>
            </a:pPr>
            <a:r>
              <a:rPr lang="en-US" sz="11991" spc="-23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500+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86999" y="3633573"/>
            <a:ext cx="2691726" cy="511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81"/>
              </a:lnSpc>
            </a:pPr>
            <a:r>
              <a:rPr lang="en-US" sz="1255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searchable professions and ANZSCO occupations covered across skilled migration visa subclasses.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6395" y="3498185"/>
            <a:ext cx="8842135" cy="6026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5426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3" name="AutoShape 3"/>
          <p:cNvSpPr/>
          <p:nvPr/>
        </p:nvSpPr>
        <p:spPr>
          <a:xfrm>
            <a:off x="2477968" y="1153160"/>
            <a:ext cx="12849735" cy="0"/>
          </a:xfrm>
          <a:prstGeom prst="line">
            <a:avLst/>
          </a:prstGeom>
          <a:ln w="9525" cap="flat">
            <a:solidFill>
              <a:srgbClr val="B8B8B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981565" y="5302861"/>
            <a:ext cx="5429051" cy="631050"/>
            <a:chOff x="0" y="0"/>
            <a:chExt cx="1429873" cy="1662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9873" cy="166203"/>
            </a:xfrm>
            <a:custGeom>
              <a:avLst/>
              <a:gdLst/>
              <a:ahLst/>
              <a:cxnLst/>
              <a:rect l="l" t="t" r="r" b="b"/>
              <a:pathLst>
                <a:path w="1429873" h="166203">
                  <a:moveTo>
                    <a:pt x="0" y="0"/>
                  </a:moveTo>
                  <a:lnTo>
                    <a:pt x="1429873" y="0"/>
                  </a:lnTo>
                  <a:lnTo>
                    <a:pt x="1429873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429873" cy="15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81565" y="6772905"/>
            <a:ext cx="8489878" cy="631050"/>
            <a:chOff x="0" y="0"/>
            <a:chExt cx="2236017" cy="1662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6017" cy="166203"/>
            </a:xfrm>
            <a:custGeom>
              <a:avLst/>
              <a:gdLst/>
              <a:ahLst/>
              <a:cxnLst/>
              <a:rect l="l" t="t" r="r" b="b"/>
              <a:pathLst>
                <a:path w="2236017" h="166203">
                  <a:moveTo>
                    <a:pt x="0" y="0"/>
                  </a:moveTo>
                  <a:lnTo>
                    <a:pt x="2236017" y="0"/>
                  </a:lnTo>
                  <a:lnTo>
                    <a:pt x="2236017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2236017" cy="15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81565" y="8242948"/>
            <a:ext cx="12277735" cy="631050"/>
            <a:chOff x="0" y="0"/>
            <a:chExt cx="3233642" cy="16620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33642" cy="166203"/>
            </a:xfrm>
            <a:custGeom>
              <a:avLst/>
              <a:gdLst/>
              <a:ahLst/>
              <a:cxnLst/>
              <a:rect l="l" t="t" r="r" b="b"/>
              <a:pathLst>
                <a:path w="3233642" h="166203">
                  <a:moveTo>
                    <a:pt x="0" y="0"/>
                  </a:moveTo>
                  <a:lnTo>
                    <a:pt x="3233642" y="0"/>
                  </a:lnTo>
                  <a:lnTo>
                    <a:pt x="3233642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FAFAFA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3233642" cy="156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86755" y="1759359"/>
            <a:ext cx="3572545" cy="3181091"/>
            <a:chOff x="0" y="0"/>
            <a:chExt cx="464697" cy="4137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64697" cy="413779"/>
            </a:xfrm>
            <a:custGeom>
              <a:avLst/>
              <a:gdLst/>
              <a:ahLst/>
              <a:cxnLst/>
              <a:rect l="l" t="t" r="r" b="b"/>
              <a:pathLst>
                <a:path w="464697" h="413779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t="-326" b="-32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1778409"/>
            <a:ext cx="9633470" cy="39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17"/>
              </a:lnSpc>
            </a:pPr>
            <a:r>
              <a:rPr lang="en-US" sz="2742" spc="-5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Commercial Potential &amp; Future Opportunities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05748" y="996950"/>
            <a:ext cx="2553552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Roadmap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341004"/>
            <a:ext cx="1449268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</a:pPr>
            <a:r>
              <a:rPr lang="en-US" sz="1599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50158" y="5694479"/>
            <a:ext cx="1759933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Near-Term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0158" y="5302861"/>
            <a:ext cx="144339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Alerts &amp; Saved Occupations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811047"/>
            <a:ext cx="1449268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</a:pPr>
            <a:r>
              <a:rPr lang="en-US" sz="1599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0158" y="7164523"/>
            <a:ext cx="1759933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Mid-Term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50158" y="6772905"/>
            <a:ext cx="144339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Employer &amp; Recruiter Insights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8282977"/>
            <a:ext cx="1449268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9"/>
              </a:lnSpc>
            </a:pPr>
            <a:r>
              <a:rPr lang="en-US" sz="1599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50158" y="8636453"/>
            <a:ext cx="1759933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Longer-Term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50158" y="8244835"/>
            <a:ext cx="1443390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API Access &amp; State Comparisons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70862" y="5495565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Personalised alerts for invitation rounds, saved profession watchlists, and custom dashboards for users.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70862" y="6965609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Subscription tiers, employer-facing profession intelligence, and recruiter dashboards for workforce planning.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70862" y="8435652"/>
            <a:ext cx="4328567" cy="33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1D1D1D"/>
                </a:solidFill>
                <a:latin typeface="Helios"/>
                <a:ea typeface="Helios"/>
                <a:cs typeface="Helios"/>
                <a:sym typeface="Helios"/>
              </a:rPr>
              <a:t>API and data licensing, deeper state-by-state comparisons, and integration with migration advisory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641854"/>
            <a:ext cx="7399292" cy="162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9404" spc="-47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Explore your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67294" y="4853940"/>
            <a:ext cx="1261125" cy="38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15"/>
              </a:lnSpc>
            </a:pPr>
            <a:r>
              <a:rPr lang="en-US" sz="1378" spc="-1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LET'S CONNECT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998175" y="1028700"/>
            <a:ext cx="1261125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// 2027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28700"/>
            <a:ext cx="1542647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MyAustralianVisa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06886" y="8971280"/>
            <a:ext cx="803550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Open 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87251" y="8971280"/>
            <a:ext cx="803550" cy="177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Platform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10436" y="8809673"/>
            <a:ext cx="1714876" cy="44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Partnership · Pilot · Licensing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8426" y="8955405"/>
            <a:ext cx="1482815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0"/>
              </a:lnSpc>
            </a:pPr>
            <a:r>
              <a:rPr lang="en-US" sz="2100" spc="-21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Independent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4864" y="3641854"/>
            <a:ext cx="7884436" cy="162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166"/>
              </a:lnSpc>
              <a:spcBef>
                <a:spcPct val="0"/>
              </a:spcBef>
            </a:pPr>
            <a:r>
              <a:rPr lang="en-US" sz="9404" spc="-47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profession.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Helios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Premium Australian Migration Insight Deck</dc:title>
  <cp:lastModifiedBy>Muhammad Muneeb</cp:lastModifiedBy>
  <cp:revision>2</cp:revision>
  <dcterms:created xsi:type="dcterms:W3CDTF">2006-08-16T00:00:00Z</dcterms:created>
  <dcterms:modified xsi:type="dcterms:W3CDTF">2026-09-16T14:29:37Z</dcterms:modified>
  <dc:identifier>DAHVXrAisy0</dc:identifier>
</cp:coreProperties>
</file>